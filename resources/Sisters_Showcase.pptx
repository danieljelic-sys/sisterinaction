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975A"/>
                </a:solidFill>
              </a:rPr>
              <a:t>BOOTCAMP SHOWCASE  ·  JUN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D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Sisters in Action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240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tim na pravom poslu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971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F5E6"/>
                </a:solidFill>
              </a:rPr>
              <a:t>Integrisani rad sa AI — ne manualni zadaci uz veliki utrosak vremena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023360"/>
            <a:ext cx="1920240" cy="502920"/>
          </a:xfrm>
          <a:prstGeom prst="rect">
            <a:avLst/>
          </a:prstGeom>
          <a:solidFill>
            <a:srgbClr val="1E0F06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023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7333"/>
                </a:solidFill>
              </a:rPr>
              <a:t>Scout · Research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4023360"/>
            <a:ext cx="1920240" cy="502920"/>
          </a:xfrm>
          <a:prstGeom prst="rect">
            <a:avLst/>
          </a:prstGeom>
          <a:solidFill>
            <a:srgbClr val="1E0F06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4023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7333"/>
                </a:solidFill>
              </a:rPr>
              <a:t>Scripto · Pisac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4023360"/>
            <a:ext cx="1920240" cy="502920"/>
          </a:xfrm>
          <a:prstGeom prst="rect">
            <a:avLst/>
          </a:prstGeom>
          <a:solidFill>
            <a:srgbClr val="1E0F06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4023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7333"/>
                </a:solidFill>
              </a:rPr>
              <a:t>Tana · Review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4023360"/>
            <a:ext cx="1920240" cy="502920"/>
          </a:xfrm>
          <a:prstGeom prst="rect">
            <a:avLst/>
          </a:prstGeom>
          <a:solidFill>
            <a:srgbClr val="1E0F06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4023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7333"/>
                </a:solidFill>
              </a:rPr>
              <a:t>Milo · Community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B87333">
              <a:alpha val="12000"/>
            </a:srgbClr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1097280"/>
            <a:ext cx="1371600" cy="1371600"/>
          </a:xfrm>
          <a:prstGeom prst="ellipse">
            <a:avLst/>
          </a:prstGeom>
          <a:solidFill>
            <a:srgbClr val="B87333">
              <a:alpha val="25000"/>
            </a:srgbClr>
          </a:solidFill>
          <a:ln w="12700">
            <a:solidFill>
              <a:srgbClr val="B87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1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7333"/>
                </a:solidFill>
              </a:rPr>
              <a:t>KONTEKST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D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 alat — tim.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286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33"/>
                </a:solidFill>
              </a:rPr>
              <a:t>Svaki AI zaposleni ima:
</a:t>
            </a:r>
            <a:pPr indent="0" marL="0">
              <a:buNone/>
            </a:pPr>
            <a:r>
              <a:rPr lang="en-US" sz="1300" dirty="0">
                <a:solidFill>
                  <a:srgbClr val="FDF5E6"/>
                </a:solidFill>
              </a:rPr>
              <a:t>Ime · Ulogu · Pravila · Granice
</a:t>
            </a:r>
            <a:pPr indent="0" marL="0">
              <a:buNone/>
            </a:pPr>
            <a:r>
              <a:rPr lang="en-US" sz="1300" b="1" dirty="0">
                <a:solidFill>
                  <a:srgbClr val="B87333"/>
                </a:solidFill>
              </a:rPr>
              <a:t>Rezultat:
</a:t>
            </a:r>
            <a:pPr indent="0" marL="0">
              <a:buNone/>
            </a:pPr>
            <a:r>
              <a:rPr lang="en-US" sz="1300" dirty="0">
                <a:solidFill>
                  <a:srgbClr val="FDF5E6"/>
                </a:solidFill>
              </a:rPr>
              <a:t>Jedan covek vodi produkciju
koja izgleda kao studio.
</a:t>
            </a:r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</a:rPr>
              <a:t>Bez agencije. Bez tima.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</a:rPr>
              <a:t>Samo sistem.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508760"/>
            <a:ext cx="3840480" cy="685800"/>
          </a:xfrm>
          <a:prstGeom prst="rect">
            <a:avLst/>
          </a:prstGeom>
          <a:solidFill>
            <a:srgbClr val="1E0F06"/>
          </a:solidFill>
          <a:ln w="9525">
            <a:solidFill>
              <a:srgbClr val="B87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5636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333"/>
                </a:solidFill>
              </a:rPr>
              <a:t>SCOUT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37960" y="15636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975A"/>
                </a:solidFill>
              </a:rPr>
              <a:t>Research Analyst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83480" y="1856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5E6"/>
                </a:solidFill>
              </a:rPr>
              <a:t>Trend brief + lead outreach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2194560"/>
            <a:ext cx="22860" cy="13716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331720"/>
            <a:ext cx="3840480" cy="685800"/>
          </a:xfrm>
          <a:prstGeom prst="rect">
            <a:avLst/>
          </a:prstGeom>
          <a:solidFill>
            <a:srgbClr val="1E0F06"/>
          </a:solidFill>
          <a:ln w="9525">
            <a:solidFill>
              <a:srgbClr val="B87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3865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333"/>
                </a:solidFill>
              </a:rPr>
              <a:t>SCRIPTO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3865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975A"/>
                </a:solidFill>
              </a:rPr>
              <a:t>Video Scripter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26791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5E6"/>
                </a:solidFill>
              </a:rPr>
              <a:t>Reel skripte u glasu beagla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3017520"/>
            <a:ext cx="22860" cy="13716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154680"/>
            <a:ext cx="3840480" cy="685800"/>
          </a:xfrm>
          <a:prstGeom prst="rect">
            <a:avLst/>
          </a:prstGeom>
          <a:solidFill>
            <a:srgbClr val="1E0F06"/>
          </a:solidFill>
          <a:ln w="9525">
            <a:solidFill>
              <a:srgbClr val="B87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2095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333"/>
                </a:solidFill>
              </a:rPr>
              <a:t>TANA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32095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975A"/>
                </a:solidFill>
              </a:rPr>
              <a:t>Content Reviewer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35021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5E6"/>
                </a:solidFill>
              </a:rPr>
              <a:t>Review + odobravanje sadrzaja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3840480"/>
            <a:ext cx="22860" cy="13716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977640"/>
            <a:ext cx="3840480" cy="685800"/>
          </a:xfrm>
          <a:prstGeom prst="rect">
            <a:avLst/>
          </a:prstGeom>
          <a:solidFill>
            <a:srgbClr val="1E0F06"/>
          </a:solidFill>
          <a:ln w="9525">
            <a:solidFill>
              <a:srgbClr val="B87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40325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333"/>
                </a:solidFill>
              </a:rPr>
              <a:t>MILO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40325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975A"/>
                </a:solidFill>
              </a:rPr>
              <a:t>Community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4325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5E6"/>
                </a:solidFill>
              </a:rPr>
              <a:t>Komentari · DM · Welcome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4800600"/>
            <a:ext cx="3840480" cy="25603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800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1A0B"/>
                </a:solidFill>
              </a:rPr>
              <a:t>Daniel drzi kameru. To je to.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0F06"/>
          </a:solidFill>
          <a:ln w="12700">
            <a:solidFill>
              <a:srgbClr val="1E0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7333"/>
                </a:solidFill>
              </a:rPr>
              <a:t>KORAK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37360" y="91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5E6"/>
                </a:solidFill>
              </a:rPr>
              <a:t>Pravi zadaci — ne test scenariji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4114800" cy="1920240"/>
          </a:xfrm>
          <a:prstGeom prst="rect">
            <a:avLst/>
          </a:prstGeom>
          <a:solidFill>
            <a:srgbClr val="1E0F06"/>
          </a:solidFill>
          <a:ln w="9525">
            <a:solidFill>
              <a:srgbClr val="B87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58368"/>
            <a:ext cx="4114800" cy="6400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86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7333"/>
                </a:solidFill>
              </a:rPr>
              <a:t>SCOUT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71800" y="786384"/>
            <a:ext cx="1371600" cy="246888"/>
          </a:xfrm>
          <a:prstGeom prst="rect">
            <a:avLst/>
          </a:prstGeom>
          <a:solidFill>
            <a:srgbClr val="4A3020"/>
          </a:solidFill>
          <a:ln w="12700">
            <a:solidFill>
              <a:srgbClr val="4A3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78638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87333"/>
                </a:solidFill>
              </a:rPr>
              <a:t>ISPORUCENO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133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5E6"/>
                </a:solidFill>
              </a:rPr>
              <a:t>Trend brief Week 25 (jun 11-17)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5E6"/>
                </a:solidFill>
              </a:rPr>
              <a:t>5 trending tema · audio trendovi · timing window · preporuke za Sisters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658368"/>
            <a:ext cx="4114800" cy="1920240"/>
          </a:xfrm>
          <a:prstGeom prst="rect">
            <a:avLst/>
          </a:prstGeom>
          <a:solidFill>
            <a:srgbClr val="1E0F06"/>
          </a:solidFill>
          <a:ln w="9525">
            <a:solidFill>
              <a:srgbClr val="B87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658368"/>
            <a:ext cx="4114800" cy="6400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786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7333"/>
                </a:solidFill>
              </a:rPr>
              <a:t>SCRIPTO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6640" y="786384"/>
            <a:ext cx="1371600" cy="246888"/>
          </a:xfrm>
          <a:prstGeom prst="rect">
            <a:avLst/>
          </a:prstGeom>
          <a:solidFill>
            <a:srgbClr val="4A3020"/>
          </a:solidFill>
          <a:ln w="12700">
            <a:solidFill>
              <a:srgbClr val="4A3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78638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87333"/>
                </a:solidFill>
              </a:rPr>
              <a:t>LIVE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37760" y="1133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5E6"/>
                </a:solidFill>
              </a:rPr>
              <a:t>System prompt kreiran od nule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463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5E6"/>
                </a:solidFill>
              </a:rPr>
              <a:t>Kompletan AI scripter: voiceover format · vizuelni cue-ovi · caption · 2 glasa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761488"/>
            <a:ext cx="4114800" cy="1920240"/>
          </a:xfrm>
          <a:prstGeom prst="rect">
            <a:avLst/>
          </a:prstGeom>
          <a:solidFill>
            <a:srgbClr val="1E0F06"/>
          </a:solidFill>
          <a:ln w="9525">
            <a:solidFill>
              <a:srgbClr val="B87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61488"/>
            <a:ext cx="4114800" cy="6400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7333"/>
                </a:solidFill>
              </a:rPr>
              <a:t>TANA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71800" y="2889504"/>
            <a:ext cx="1371600" cy="246888"/>
          </a:xfrm>
          <a:prstGeom prst="rect">
            <a:avLst/>
          </a:prstGeom>
          <a:solidFill>
            <a:srgbClr val="4A3020"/>
          </a:solidFill>
          <a:ln w="12700">
            <a:solidFill>
              <a:srgbClr val="4A3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288950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87333"/>
                </a:solidFill>
              </a:rPr>
              <a:t>ODOBRENO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3236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5E6"/>
                </a:solidFill>
              </a:rPr>
              <a:t>Review 3 system prompta za export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566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5E6"/>
                </a:solidFill>
              </a:rPr>
              <a:t>Pregled · feedback · finalne verzije odobrene za distribuciju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761488"/>
            <a:ext cx="4114800" cy="1920240"/>
          </a:xfrm>
          <a:prstGeom prst="rect">
            <a:avLst/>
          </a:prstGeom>
          <a:solidFill>
            <a:srgbClr val="1E0F06"/>
          </a:solidFill>
          <a:ln w="9525">
            <a:solidFill>
              <a:srgbClr val="B87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761488"/>
            <a:ext cx="4114800" cy="6400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7333"/>
                </a:solidFill>
              </a:rPr>
              <a:t>MILO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06640" y="2889504"/>
            <a:ext cx="1371600" cy="246888"/>
          </a:xfrm>
          <a:prstGeom prst="rect">
            <a:avLst/>
          </a:prstGeom>
          <a:solidFill>
            <a:srgbClr val="4A3020"/>
          </a:solidFill>
          <a:ln w="12700">
            <a:solidFill>
              <a:srgbClr val="4A3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288950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87333"/>
                </a:solidFill>
              </a:rPr>
              <a:t>AKTIVAN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37760" y="3236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5E6"/>
                </a:solidFill>
              </a:rPr>
              <a:t>Community coordinator aktivan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566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5E6"/>
                </a:solidFill>
              </a:rPr>
              <a:t>FAQ · escalation protokol · glas brenda za Instagram · TikTok · DM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0F06"/>
          </a:solidFill>
          <a:ln w="12700">
            <a:solidFill>
              <a:srgbClr val="1E0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7333"/>
                </a:solidFill>
              </a:rPr>
              <a:t>KORACI 2 + 3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0" y="914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5E6"/>
                </a:solidFill>
              </a:rPr>
              <a:t>Debrief  →  Iteracija  →  Poboljsani system prompt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3840480" cy="4251960"/>
          </a:xfrm>
          <a:prstGeom prst="rect">
            <a:avLst/>
          </a:prstGeom>
          <a:solidFill>
            <a:srgbClr val="1E0F06"/>
          </a:solidFill>
          <a:ln w="9525">
            <a:solidFill>
              <a:srgbClr val="4A3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0080"/>
            <a:ext cx="3840480" cy="64008"/>
          </a:xfrm>
          <a:prstGeom prst="rect">
            <a:avLst/>
          </a:prstGeom>
          <a:solidFill>
            <a:srgbClr val="4A3020"/>
          </a:solidFill>
          <a:ln w="12700">
            <a:solidFill>
              <a:srgbClr val="4A3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13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88888"/>
                </a:solidFill>
              </a:rPr>
              <a:t>PRE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115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5E6"/>
                </a:solidFill>
              </a:rPr>
              <a:t>Scripto —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5E6"/>
                </a:solidFill>
              </a:rPr>
              <a:t>Folder bio prazan.
</a:t>
            </a:r>
            <a:pPr indent="0" marL="0">
              <a:buNone/>
            </a:pPr>
            <a:r>
              <a:rPr lang="en-US" sz="1200" dirty="0">
                <a:solidFill>
                  <a:srgbClr val="FDF5E6"/>
                </a:solidFill>
              </a:rPr>
              <a:t>Nijedan system prompt nije
postojao za Scripta.
</a:t>
            </a:r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</a:rPr>
              <a:t>Bez identiteta =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</a:rPr>
              <a:t>genericki chatbot koji ne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</a:rPr>
              <a:t>zna glas Akire ili Atanasije.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5196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87333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937760" y="640080"/>
            <a:ext cx="3840480" cy="4251960"/>
          </a:xfrm>
          <a:prstGeom prst="rect">
            <a:avLst/>
          </a:prstGeom>
          <a:solidFill>
            <a:srgbClr val="1E0F06"/>
          </a:solidFill>
          <a:ln w="9525">
            <a:solidFill>
              <a:srgbClr val="B87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640080"/>
            <a:ext cx="3840480" cy="6400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713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87333"/>
                </a:solidFill>
              </a:rPr>
              <a:t>POSLE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4920" y="1115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33"/>
                </a:solidFill>
              </a:rPr>
              <a:t>Scripto — resenje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1463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5E6"/>
                </a:solidFill>
              </a:rPr>
              <a:t>System prompt izgraden od nule: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1810512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5E6"/>
                </a:solidFill>
              </a:rPr>
              <a:t>1. 5 elemenata identiteta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F5E6"/>
                </a:solidFill>
              </a:rPr>
              <a:t>2. Format: voiceover · visual cues · caption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F5E6"/>
                </a:solidFill>
              </a:rPr>
              <a:t>3. Dva glasa: Akira vs Atanasia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F5E6"/>
                </a:solidFill>
              </a:rPr>
              <a:t>4. Zlatno pravilo: Daniel ne govori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DF5E6"/>
                </a:solidFill>
              </a:rPr>
              <a:t>5. Eskalacija → Tana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4023360"/>
            <a:ext cx="3840480" cy="22860"/>
          </a:xfrm>
          <a:prstGeom prst="rect">
            <a:avLst/>
          </a:prstGeom>
          <a:solidFill>
            <a:srgbClr val="4A3020"/>
          </a:solidFill>
          <a:ln w="12700">
            <a:solidFill>
              <a:srgbClr val="4A3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4160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975A"/>
                </a:solidFill>
              </a:rPr>
              <a:t>Rezultat: Scripto zna ko je i sta radi.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0F06"/>
          </a:solidFill>
          <a:ln w="12700">
            <a:solidFill>
              <a:srgbClr val="1E0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7333"/>
                </a:solidFill>
              </a:rPr>
              <a:t>KORAK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37360" y="91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5E6"/>
                </a:solidFill>
              </a:rPr>
              <a:t>3 scenarija potvrdjena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8412480" cy="1325880"/>
          </a:xfrm>
          <a:prstGeom prst="rect">
            <a:avLst/>
          </a:prstGeom>
          <a:solidFill>
            <a:srgbClr val="1E0F06"/>
          </a:solidFill>
          <a:ln w="9525">
            <a:solidFill>
              <a:srgbClr val="B87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21792"/>
            <a:ext cx="109728" cy="132588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76656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33"/>
                </a:solidFill>
              </a:rPr>
              <a:t>Tana — Content Reviewer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722376"/>
            <a:ext cx="1645920" cy="237744"/>
          </a:xfrm>
          <a:prstGeom prst="rect">
            <a:avLst/>
          </a:prstGeom>
          <a:solidFill>
            <a:srgbClr val="4A3020"/>
          </a:solidFill>
          <a:ln w="12700">
            <a:solidFill>
              <a:srgbClr val="4A3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7223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4975A"/>
                </a:solidFill>
              </a:rPr>
              <a:t>EASY CASE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26680" y="722376"/>
            <a:ext cx="1005840" cy="237744"/>
          </a:xfrm>
          <a:prstGeom prst="rect">
            <a:avLst/>
          </a:prstGeom>
          <a:solidFill>
            <a:srgbClr val="1A3A1A"/>
          </a:solidFill>
          <a:ln w="6350">
            <a:solidFill>
              <a:srgbClr val="4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7223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BA6A"/>
                </a:solidFill>
              </a:rPr>
              <a:t>PASS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34440" y="10424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5E6"/>
                </a:solidFill>
              </a:rPr>
              <a:t>Test: Reel skripta #33 prosledjeno na review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13350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5E6"/>
                </a:solidFill>
              </a:rPr>
              <a:t>Rezultat: APPROVED — brand voice cist, food angle prisutan, punchline radi.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084832"/>
            <a:ext cx="8412480" cy="1325880"/>
          </a:xfrm>
          <a:prstGeom prst="rect">
            <a:avLst/>
          </a:prstGeom>
          <a:solidFill>
            <a:srgbClr val="1E0F06"/>
          </a:solidFill>
          <a:ln w="9525">
            <a:solidFill>
              <a:srgbClr val="B87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084832"/>
            <a:ext cx="109728" cy="132588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39696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2176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33"/>
                </a:solidFill>
              </a:rPr>
              <a:t>Scout — Research Analyst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2185416"/>
            <a:ext cx="1645920" cy="237744"/>
          </a:xfrm>
          <a:prstGeom prst="rect">
            <a:avLst/>
          </a:prstGeom>
          <a:solidFill>
            <a:srgbClr val="4A3020"/>
          </a:solidFill>
          <a:ln w="12700">
            <a:solidFill>
              <a:srgbClr val="4A3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1854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4975A"/>
                </a:solidFill>
              </a:rPr>
              <a:t>EDGE CASE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726680" y="2185416"/>
            <a:ext cx="1005840" cy="237744"/>
          </a:xfrm>
          <a:prstGeom prst="rect">
            <a:avLst/>
          </a:prstGeom>
          <a:solidFill>
            <a:srgbClr val="1A3A1A"/>
          </a:solidFill>
          <a:ln w="6350">
            <a:solidFill>
              <a:srgbClr val="4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21854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BA6A"/>
                </a:solidFill>
              </a:rPr>
              <a:t>PASS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34440" y="25054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5E6"/>
                </a:solidFill>
              </a:rPr>
              <a:t>Test: Zahtev za DM bez naziva brenda partnera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279806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5E6"/>
                </a:solidFill>
              </a:rPr>
              <a:t>Rezultat: Postavio JEDNO pitanje. Objasnio zasto treba detalj. Nije pisao genericki DM.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47872"/>
            <a:ext cx="8412480" cy="1325880"/>
          </a:xfrm>
          <a:prstGeom prst="rect">
            <a:avLst/>
          </a:prstGeom>
          <a:solidFill>
            <a:srgbClr val="1E0F06"/>
          </a:solidFill>
          <a:ln w="9525">
            <a:solidFill>
              <a:srgbClr val="B87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547872"/>
            <a:ext cx="109728" cy="132588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02736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34440" y="3639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333"/>
                </a:solidFill>
              </a:rPr>
              <a:t>Milo — Community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0" y="3648456"/>
            <a:ext cx="1645920" cy="237744"/>
          </a:xfrm>
          <a:prstGeom prst="rect">
            <a:avLst/>
          </a:prstGeom>
          <a:solidFill>
            <a:srgbClr val="4A3020"/>
          </a:solidFill>
          <a:ln w="12700">
            <a:solidFill>
              <a:srgbClr val="4A3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36484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D4975A"/>
                </a:solidFill>
              </a:rPr>
              <a:t>OUT OF SCOPE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726680" y="3648456"/>
            <a:ext cx="1005840" cy="237744"/>
          </a:xfrm>
          <a:prstGeom prst="rect">
            <a:avLst/>
          </a:prstGeom>
          <a:solidFill>
            <a:srgbClr val="1A3A1A"/>
          </a:solidFill>
          <a:ln w="6350">
            <a:solidFill>
              <a:srgbClr val="4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26680" y="36484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BA6A"/>
                </a:solidFill>
              </a:rPr>
              <a:t>PASS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34440" y="39684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5E6"/>
                </a:solidFill>
              </a:rPr>
              <a:t>Test: Zahtev za content calendar za sledecu nedelju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34440" y="42611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5E6"/>
                </a:solidFill>
              </a:rPr>
              <a:t>Rezultat: Jasno odbio, ponudio eskalaciju, ostao u tonu brenda cak i pri odbijanju.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0F06"/>
          </a:solidFill>
          <a:ln w="12700">
            <a:solidFill>
              <a:srgbClr val="1E0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7333"/>
                </a:solidFill>
              </a:rPr>
              <a:t>KORAK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737360" y="91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5E6"/>
                </a:solidFill>
              </a:rPr>
              <a:t>Jedan momenat koji je spasio vreme — dokaz za showcase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594360"/>
            <a:ext cx="8412480" cy="1234440"/>
          </a:xfrm>
          <a:prstGeom prst="rect">
            <a:avLst/>
          </a:prstGeom>
          <a:solidFill>
            <a:srgbClr val="1E0F06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8412480" cy="6400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836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min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2880360" y="658368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5E6"/>
                </a:solidFill>
              </a:rPr>
              <a:t>Workshop materijal za 3-satnu radionicu
</a:t>
            </a:r>
            <a:pPr indent="0" marL="0">
              <a:buNone/>
            </a:pPr>
            <a:r>
              <a:rPr lang="en-US" sz="1200" dirty="0">
                <a:solidFill>
                  <a:srgbClr val="FDF5E6"/>
                </a:solidFill>
              </a:rPr>
              <a:t>MD + PDF + facilitatorski vodic + template za ucesnike + 6 Design promptova
</a:t>
            </a:r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</a:rPr>
              <a:t>Bez integrisanog AI rada: 1-2 radna dana.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841248"/>
          </a:xfrm>
          <a:prstGeom prst="rect">
            <a:avLst/>
          </a:prstGeom>
          <a:solidFill>
            <a:srgbClr val="1E0F06"/>
          </a:solidFill>
          <a:ln w="6350">
            <a:solidFill>
              <a:srgbClr val="4A3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65960"/>
            <a:ext cx="73152" cy="841248"/>
          </a:xfrm>
          <a:prstGeom prst="rect">
            <a:avLst/>
          </a:prstGeom>
          <a:solidFill>
            <a:srgbClr val="D4975A"/>
          </a:solidFill>
          <a:ln w="12700">
            <a:solidFill>
              <a:srgbClr val="D49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116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0574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5E6"/>
                </a:solidFill>
              </a:rPr>
              <a:t>AI tim eksport paket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23760" y="2057400"/>
            <a:ext cx="1463040" cy="237744"/>
          </a:xfrm>
          <a:prstGeom prst="rect">
            <a:avLst/>
          </a:prstGeom>
          <a:solidFill>
            <a:srgbClr val="4A3020"/>
          </a:solidFill>
          <a:ln w="12700">
            <a:solidFill>
              <a:srgbClr val="4A3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20574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333"/>
                </a:solidFill>
              </a:rPr>
              <a:t>1 sesija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23865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5E6"/>
                </a:solidFill>
              </a:rPr>
              <a:t>4 system prompta · PDF · MD fajlovi · import instrukcije — jednom sesijom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53512"/>
            <a:ext cx="8412480" cy="841248"/>
          </a:xfrm>
          <a:prstGeom prst="rect">
            <a:avLst/>
          </a:prstGeom>
          <a:solidFill>
            <a:srgbClr val="1E0F06"/>
          </a:solidFill>
          <a:ln w="6350">
            <a:solidFill>
              <a:srgbClr val="4A3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53512"/>
            <a:ext cx="73152" cy="841248"/>
          </a:xfrm>
          <a:prstGeom prst="rect">
            <a:avLst/>
          </a:prstGeom>
          <a:solidFill>
            <a:srgbClr val="D4975A"/>
          </a:solidFill>
          <a:ln w="12700">
            <a:solidFill>
              <a:srgbClr val="D497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9992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0449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5E6"/>
                </a:solidFill>
              </a:rPr>
              <a:t>Bridge protokol aktivan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23760" y="3044952"/>
            <a:ext cx="1463040" cy="237744"/>
          </a:xfrm>
          <a:prstGeom prst="rect">
            <a:avLst/>
          </a:prstGeom>
          <a:solidFill>
            <a:srgbClr val="4A3020"/>
          </a:solidFill>
          <a:ln w="12700">
            <a:solidFill>
              <a:srgbClr val="4A3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30449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333"/>
                </a:solidFill>
              </a:rPr>
              <a:t>odmah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337413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5E6"/>
                </a:solidFill>
              </a:rPr>
              <a:t>Kimi → Claude Input → Output → Archive. Komunikacija izmedju dva AI sistema.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941064"/>
            <a:ext cx="8412480" cy="841248"/>
          </a:xfrm>
          <a:prstGeom prst="rect">
            <a:avLst/>
          </a:prstGeom>
          <a:solidFill>
            <a:srgbClr val="1E0F06"/>
          </a:solidFill>
          <a:ln w="6350">
            <a:solidFill>
              <a:srgbClr val="4A30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41064"/>
            <a:ext cx="73152" cy="841248"/>
          </a:xfrm>
          <a:prstGeom prst="rect">
            <a:avLst/>
          </a:prstGeom>
          <a:solidFill>
            <a:srgbClr val="D4975A"/>
          </a:solidFill>
          <a:ln w="12700">
            <a:solidFill>
              <a:srgbClr val="D497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9867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7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40325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5E6"/>
                </a:solidFill>
              </a:rPr>
              <a:t>Dashboard build prompt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23760" y="4032504"/>
            <a:ext cx="1463040" cy="237744"/>
          </a:xfrm>
          <a:prstGeom prst="rect">
            <a:avLst/>
          </a:prstGeom>
          <a:solidFill>
            <a:srgbClr val="4A3020"/>
          </a:solidFill>
          <a:ln w="12700">
            <a:solidFill>
              <a:srgbClr val="4A3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40325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333"/>
                </a:solidFill>
              </a:rPr>
              <a:t>15 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436168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5E6"/>
                </a:solidFill>
              </a:rPr>
              <a:t>Kompletan Claude Code prompt sa sample data — spreman za Session 6.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18872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1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Integrisani
</a:t>
            </a:r>
            <a:pPr algn="ctr" indent="0" marL="0">
              <a:buNone/>
            </a:pPr>
            <a:r>
              <a:rPr lang="en-US" sz="3400" b="1" dirty="0">
                <a:solidFill>
                  <a:srgbClr val="2C1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
</a:t>
            </a:r>
            <a:pPr algn="ctr" indent="0" marL="0">
              <a:buNone/>
            </a:pPr>
            <a:r>
              <a:rPr lang="en-US" sz="3400" b="1" dirty="0">
                <a:solidFill>
                  <a:srgbClr val="2C1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Studio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37160" y="4160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C1A0B"/>
                </a:solidFill>
              </a:rPr>
              <a:t>Sisters in 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0" y="3200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333"/>
                </a:solidFill>
              </a:rPr>
              <a:t>Sta je izgradjeno ove nedelje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29000" y="868680"/>
            <a:ext cx="274320" cy="2743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1A0B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94760" y="85039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5E6"/>
                </a:solidFill>
              </a:rPr>
              <a:t>4 AI zaposlena — system prompti finalizirani i eksportovani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655064"/>
            <a:ext cx="274320" cy="2743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655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1A0B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94760" y="1636776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5E6"/>
                </a:solidFill>
              </a:rPr>
              <a:t>Bridge protokol Kimi ↔ Claude — produkcija u ritmu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2441448"/>
            <a:ext cx="274320" cy="2743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1A0B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94760" y="2423160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5E6"/>
                </a:solidFill>
              </a:rPr>
              <a:t>Workshop paket (ideja · instrukcije · PDF · MD · Design promptovi)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3227832"/>
            <a:ext cx="274320" cy="2743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1A0B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94760" y="3209544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5E6"/>
                </a:solidFill>
              </a:rPr>
              <a:t>Command Dashboard build prompt spreman za Session 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4014216"/>
            <a:ext cx="274320" cy="2743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4014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1A0B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94760" y="3995928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5E6"/>
                </a:solidFill>
              </a:rPr>
              <a:t>Showcase prezentacija — ovo sto gledate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4736592"/>
            <a:ext cx="5394960" cy="22860"/>
          </a:xfrm>
          <a:prstGeom prst="rect">
            <a:avLst/>
          </a:prstGeom>
          <a:solidFill>
            <a:srgbClr val="4A3020"/>
          </a:solidFill>
          <a:ln w="12700">
            <a:solidFill>
              <a:srgbClr val="4A3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48006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Daniel Jelic (MA)  ·  Bootcamp Jun 2026  ·  claude.ai/design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Sisters in Action — AI tim na pravom poslu</dc:title>
  <dc:subject>PptxGenJS Presentation</dc:subject>
  <dc:creator>PptxGenJS</dc:creator>
  <cp:lastModifiedBy>PptxGenJS</cp:lastModifiedBy>
  <cp:revision>1</cp:revision>
  <dcterms:created xsi:type="dcterms:W3CDTF">2026-06-20T12:46:12Z</dcterms:created>
  <dcterms:modified xsi:type="dcterms:W3CDTF">2026-06-20T12:46:12Z</dcterms:modified>
</cp:coreProperties>
</file>